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50" r:id="rId4"/>
  </p:sldMasterIdLst>
  <p:sldIdLst>
    <p:sldId id="256" r:id="rId5"/>
    <p:sldId id="257" r:id="rId6"/>
    <p:sldId id="258" r:id="rId7"/>
    <p:sldId id="259" r:id="rId8"/>
    <p:sldId id="261" r:id="rId9"/>
    <p:sldId id="260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0606" autoAdjust="0"/>
    <p:restoredTop sz="94660"/>
  </p:normalViewPr>
  <p:slideViewPr>
    <p:cSldViewPr snapToGrid="0">
      <p:cViewPr varScale="1">
        <p:scale>
          <a:sx n="89" d="100"/>
          <a:sy n="89" d="100"/>
        </p:scale>
        <p:origin x="66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heme" Target="theme/theme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viewProps" Target="view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microsoft.com/office/2016/11/relationships/changesInfo" Target="changesInfos/changesInfo1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veshwar Santosh Hiremath" userId="f40afb60cbfa0a6f" providerId="LiveId" clId="{1915CE94-3A47-4265-B4D8-1EADAACD1E29}"/>
    <pc:docChg chg="addSld modSld sldOrd">
      <pc:chgData name="Sarveshwar Santosh Hiremath" userId="f40afb60cbfa0a6f" providerId="LiveId" clId="{1915CE94-3A47-4265-B4D8-1EADAACD1E29}" dt="2025-12-06T13:28:19.226" v="9"/>
      <pc:docMkLst>
        <pc:docMk/>
      </pc:docMkLst>
      <pc:sldChg chg="addSp modSp new mod ord">
        <pc:chgData name="Sarveshwar Santosh Hiremath" userId="f40afb60cbfa0a6f" providerId="LiveId" clId="{1915CE94-3A47-4265-B4D8-1EADAACD1E29}" dt="2025-12-06T13:28:19.226" v="9"/>
        <pc:sldMkLst>
          <pc:docMk/>
          <pc:sldMk cId="401536415" sldId="261"/>
        </pc:sldMkLst>
        <pc:picChg chg="add mod">
          <ac:chgData name="Sarveshwar Santosh Hiremath" userId="f40afb60cbfa0a6f" providerId="LiveId" clId="{1915CE94-3A47-4265-B4D8-1EADAACD1E29}" dt="2025-12-06T13:28:07.603" v="5" actId="14100"/>
          <ac:picMkLst>
            <pc:docMk/>
            <pc:sldMk cId="401536415" sldId="261"/>
            <ac:picMk id="3" creationId="{BD5071B0-B3AD-30F1-6C70-5BD8C5948E85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1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0" name="Rectangle 9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11" name="Rectangle 10"/>
          <p:cNvSpPr/>
          <p:nvPr/>
        </p:nvSpPr>
        <p:spPr>
          <a:xfrm>
            <a:off x="1447801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15" name="Rectangle 14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4" name="Group 3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17" name="Straight Connector 16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9" name="Straight Connector 18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61708" y="2091263"/>
            <a:ext cx="9068586" cy="2590800"/>
          </a:xfrm>
        </p:spPr>
        <p:txBody>
          <a:bodyPr tIns="45720" bIns="45720" anchor="ctr">
            <a:noAutofit/>
          </a:bodyPr>
          <a:lstStyle>
            <a:lvl1pPr algn="ctr">
              <a:lnSpc>
                <a:spcPct val="83000"/>
              </a:lnSpc>
              <a:defRPr lang="en-US" sz="7200" b="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62100" y="4682062"/>
            <a:ext cx="9070848" cy="457201"/>
          </a:xfrm>
        </p:spPr>
        <p:txBody>
          <a:bodyPr>
            <a:normAutofit/>
          </a:bodyPr>
          <a:lstStyle>
            <a:lvl1pPr marL="0" indent="0" algn="ctr">
              <a:spcBef>
                <a:spcPts val="0"/>
              </a:spcBef>
              <a:buNone/>
              <a:defRPr sz="1600" spc="80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600"/>
            </a:lvl2pPr>
            <a:lvl3pPr marL="914400" indent="0" algn="ctr">
              <a:buNone/>
              <a:defRPr sz="16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20" name="Date Placeholder 19"/>
          <p:cNvSpPr>
            <a:spLocks noGrp="1"/>
          </p:cNvSpPr>
          <p:nvPr>
            <p:ph type="dt" sz="half" idx="10"/>
          </p:nvPr>
        </p:nvSpPr>
        <p:spPr>
          <a:xfrm>
            <a:off x="5318760" y="1341255"/>
            <a:ext cx="1554480" cy="527213"/>
          </a:xfrm>
        </p:spPr>
        <p:txBody>
          <a:bodyPr/>
          <a:lstStyle>
            <a:lvl1pPr algn="ctr">
              <a:defRPr sz="1300" spc="0" baseline="0">
                <a:solidFill>
                  <a:schemeClr val="tx1"/>
                </a:solidFill>
                <a:latin typeface="+mn-lt"/>
              </a:defRPr>
            </a:lvl1pPr>
          </a:lstStyle>
          <a:p>
            <a:fld id="{9184DA70-C731-4C70-880D-CCD4705E623C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21" name="Footer Placeholder 20"/>
          <p:cNvSpPr>
            <a:spLocks noGrp="1"/>
          </p:cNvSpPr>
          <p:nvPr>
            <p:ph type="ftr" sz="quarter" idx="11"/>
          </p:nvPr>
        </p:nvSpPr>
        <p:spPr>
          <a:xfrm>
            <a:off x="1453896" y="5211060"/>
            <a:ext cx="5905500" cy="228600"/>
          </a:xfrm>
        </p:spPr>
        <p:txBody>
          <a:bodyPr/>
          <a:lstStyle>
            <a:lvl1pPr algn="l"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12"/>
          </p:nvPr>
        </p:nvSpPr>
        <p:spPr>
          <a:xfrm>
            <a:off x="8606919" y="5212080"/>
            <a:ext cx="2111881" cy="228600"/>
          </a:xfrm>
        </p:spPr>
        <p:txBody>
          <a:bodyPr/>
          <a:lstStyle>
            <a:lvl1pPr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02287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02161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Rectangle 2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dpi="0" rotWithShape="1">
            <a:blip r:embed="rId2">
              <a:alphaModFix amt="45000"/>
              <a:duotone>
                <a:schemeClr val="accent2">
                  <a:shade val="45000"/>
                  <a:satMod val="135000"/>
                </a:schemeClr>
                <a:prstClr val="white"/>
              </a:duotone>
            </a:blip>
            <a:srcRect/>
            <a:tile tx="-44450" ty="38100" sx="85000" sy="85000" flip="none" algn="tl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3" name="Rectangle 22"/>
          <p:cNvSpPr/>
          <p:nvPr/>
        </p:nvSpPr>
        <p:spPr>
          <a:xfrm>
            <a:off x="1307870" y="1267730"/>
            <a:ext cx="9576262" cy="4307950"/>
          </a:xfrm>
          <a:prstGeom prst="rect">
            <a:avLst/>
          </a:prstGeom>
          <a:solidFill>
            <a:schemeClr val="bg1"/>
          </a:solidFill>
          <a:ln w="6350" cap="flat" cmpd="sng" algn="ctr">
            <a:noFill/>
            <a:prstDash val="solid"/>
          </a:ln>
          <a:effectLst>
            <a:outerShdw blurRad="50800" algn="ctr" rotWithShape="0">
              <a:prstClr val="black">
                <a:alpha val="66000"/>
              </a:prstClr>
            </a:outerShdw>
            <a:softEdge rad="0"/>
          </a:effectLst>
        </p:spPr>
      </p:sp>
      <p:sp>
        <p:nvSpPr>
          <p:cNvPr id="24" name="Rectangle 23"/>
          <p:cNvSpPr/>
          <p:nvPr/>
        </p:nvSpPr>
        <p:spPr>
          <a:xfrm>
            <a:off x="1447800" y="1411615"/>
            <a:ext cx="9296400" cy="4034770"/>
          </a:xfrm>
          <a:prstGeom prst="rect">
            <a:avLst/>
          </a:prstGeom>
          <a:noFill/>
          <a:ln w="6350" cap="sq" cmpd="sng" algn="ctr">
            <a:solidFill>
              <a:schemeClr val="tx1">
                <a:lumMod val="75000"/>
                <a:lumOff val="25000"/>
              </a:schemeClr>
            </a:solidFill>
            <a:prstDash val="solid"/>
            <a:miter lim="800000"/>
          </a:ln>
          <a:effectLst/>
        </p:spPr>
      </p:sp>
      <p:sp>
        <p:nvSpPr>
          <p:cNvPr id="30" name="Rectangle 29"/>
          <p:cNvSpPr/>
          <p:nvPr/>
        </p:nvSpPr>
        <p:spPr>
          <a:xfrm>
            <a:off x="5135880" y="1267730"/>
            <a:ext cx="1920240" cy="73152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grpSp>
        <p:nvGrpSpPr>
          <p:cNvPr id="31" name="Group 30"/>
          <p:cNvGrpSpPr/>
          <p:nvPr/>
        </p:nvGrpSpPr>
        <p:grpSpPr>
          <a:xfrm>
            <a:off x="5250180" y="1267730"/>
            <a:ext cx="1691640" cy="645295"/>
            <a:chOff x="5318306" y="1386268"/>
            <a:chExt cx="1567331" cy="645295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5318306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3" name="Straight Connector 32"/>
            <p:cNvCxnSpPr/>
            <p:nvPr/>
          </p:nvCxnSpPr>
          <p:spPr>
            <a:xfrm>
              <a:off x="6885637" y="1386268"/>
              <a:ext cx="0" cy="64008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4" name="Straight Connector 33"/>
            <p:cNvCxnSpPr/>
            <p:nvPr/>
          </p:nvCxnSpPr>
          <p:spPr>
            <a:xfrm>
              <a:off x="5318306" y="2031563"/>
              <a:ext cx="1567331" cy="0"/>
            </a:xfrm>
            <a:prstGeom prst="line">
              <a:avLst/>
            </a:prstGeom>
            <a:solidFill>
              <a:schemeClr val="tx1">
                <a:lumMod val="85000"/>
                <a:lumOff val="15000"/>
              </a:schemeClr>
            </a:solidFill>
            <a:ln>
              <a:solidFill>
                <a:schemeClr val="tx1"/>
              </a:solidFill>
              <a:miter lim="800000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63623" y="2094309"/>
            <a:ext cx="9070848" cy="2587752"/>
          </a:xfrm>
        </p:spPr>
        <p:txBody>
          <a:bodyPr anchor="ctr">
            <a:noAutofit/>
          </a:bodyPr>
          <a:lstStyle>
            <a:lvl1pPr algn="ctr">
              <a:lnSpc>
                <a:spcPct val="83000"/>
              </a:lnSpc>
              <a:defRPr lang="en-US" sz="7200" kern="1200" cap="all" spc="-100" baseline="0" dirty="0">
                <a:solidFill>
                  <a:schemeClr val="tx1">
                    <a:lumMod val="85000"/>
                    <a:lumOff val="15000"/>
                  </a:schemeClr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63624" y="4682062"/>
            <a:ext cx="9070848" cy="45720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1"/>
                </a:solidFill>
                <a:effectLst/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5321808" y="1344502"/>
            <a:ext cx="1554480" cy="530352"/>
          </a:xfrm>
        </p:spPr>
        <p:txBody>
          <a:bodyPr/>
          <a:lstStyle>
            <a:lvl1pPr algn="ctr">
              <a:defRPr lang="en-US" sz="1300" kern="1200" spc="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</a:lstStyle>
          <a:p>
            <a:fld id="{97669AF7-7BEB-44E4-9852-375E34362B5B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53553" y="5211060"/>
            <a:ext cx="5907024" cy="228600"/>
          </a:xfrm>
        </p:spPr>
        <p:txBody>
          <a:bodyPr/>
          <a:lstStyle>
            <a:lvl1pPr algn="l">
              <a:defRPr/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04504" y="5211060"/>
            <a:ext cx="2112264" cy="228600"/>
          </a:xfrm>
        </p:spPr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7862256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70320" y="2103120"/>
            <a:ext cx="4754880" cy="374904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8026463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984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  <a:latin typeface="+mn-lt"/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9848" y="2755898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73368" y="2074334"/>
            <a:ext cx="4754880" cy="640080"/>
          </a:xfrm>
        </p:spPr>
        <p:txBody>
          <a:bodyPr anchor="ctr">
            <a:normAutofit/>
          </a:bodyPr>
          <a:lstStyle>
            <a:lvl1pPr marL="0" indent="0" algn="ctr">
              <a:spcBef>
                <a:spcPts val="0"/>
              </a:spcBef>
              <a:buNone/>
              <a:defRPr sz="1900" b="0">
                <a:solidFill>
                  <a:schemeClr val="tx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73368" y="2756581"/>
            <a:ext cx="4754880" cy="32004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49889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68569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28522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/>
          <p:cNvSpPr/>
          <p:nvPr/>
        </p:nvSpPr>
        <p:spPr>
          <a:xfrm>
            <a:off x="245529" y="237744"/>
            <a:ext cx="8531352" cy="6382512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15" name="Rectangle 14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7392"/>
            <a:ext cx="2430780" cy="1645920"/>
          </a:xfrm>
        </p:spPr>
        <p:txBody>
          <a:bodyPr anchor="b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2800" b="0" kern="1200" cap="none" spc="0" baseline="0" dirty="0">
                <a:solidFill>
                  <a:srgbClr val="FFFFFF"/>
                </a:solidFill>
                <a:effectLst/>
                <a:latin typeface="+mj-lt"/>
                <a:ea typeface="+mn-ea"/>
                <a:cs typeface="+mn-cs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800" y="609600"/>
            <a:ext cx="7772400" cy="5334000"/>
          </a:xfrm>
        </p:spPr>
        <p:txBody>
          <a:bodyPr/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0780" cy="3505200"/>
          </a:xfrm>
        </p:spPr>
        <p:txBody>
          <a:bodyPr>
            <a:normAutofit/>
          </a:bodyPr>
          <a:lstStyle>
            <a:lvl1pPr marL="0" indent="0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2BEA474-078D-4E9B-9B14-09A87B19DC46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algn="r">
              <a:defRPr/>
            </a:lvl1pPr>
          </a:lstStyle>
          <a:p>
            <a:endParaRPr lang="en-US" dirty="0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>
          <a:xfrm>
            <a:off x="10393677" y="6223002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12" name="Rectangle 11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513840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/>
          <p:cNvSpPr/>
          <p:nvPr/>
        </p:nvSpPr>
        <p:spPr>
          <a:xfrm>
            <a:off x="9020386" y="237744"/>
            <a:ext cx="2926080" cy="6382512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296400" y="603504"/>
            <a:ext cx="2432304" cy="1645920"/>
          </a:xfrm>
        </p:spPr>
        <p:txBody>
          <a:bodyPr anchor="b">
            <a:noAutofit/>
          </a:bodyPr>
          <a:lstStyle>
            <a:lvl1pPr algn="l">
              <a:defRPr sz="2800" b="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28599" y="237744"/>
            <a:ext cx="8531352" cy="6382512"/>
          </a:xfrm>
          <a:solidFill>
            <a:schemeClr val="accent1">
              <a:lumMod val="60000"/>
              <a:lumOff val="40000"/>
            </a:schemeClr>
          </a:solidFill>
          <a:ln>
            <a:noFill/>
          </a:ln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296400" y="2286000"/>
            <a:ext cx="2432304" cy="3502152"/>
          </a:xfrm>
        </p:spPr>
        <p:txBody>
          <a:bodyPr>
            <a:normAutofit/>
          </a:bodyPr>
          <a:lstStyle>
            <a:lvl1pPr marL="0" indent="0" algn="l">
              <a:lnSpc>
                <a:spcPct val="110000"/>
              </a:lnSpc>
              <a:spcBef>
                <a:spcPts val="800"/>
              </a:spcBef>
              <a:buNone/>
              <a:defRPr sz="14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</a:defRPr>
            </a:lvl1pPr>
          </a:lstStyle>
          <a:p>
            <a:fld id="{4907D986-8816-4272-A432-0437A28A9828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 marL="0" algn="r" defTabSz="914400" rtl="0" eaLnBrk="1" latinLnBrk="0" hangingPunct="1">
              <a:defRPr lang="en-US" sz="1000" kern="1200" dirty="0">
                <a:solidFill>
                  <a:srgbClr val="FFFFFF"/>
                </a:solidFill>
                <a:effectLst>
                  <a:outerShdw blurRad="12700" dist="6350" dir="2700000" algn="tl" rotWithShape="0">
                    <a:prstClr val="black">
                      <a:alpha val="40000"/>
                    </a:prstClr>
                  </a:outerShdw>
                </a:effectLst>
                <a:latin typeface="+mn-lt"/>
                <a:ea typeface="+mn-ea"/>
                <a:cs typeface="+mn-cs"/>
              </a:defRPr>
            </a:lvl1pPr>
          </a:lstStyle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0396728" y="6227064"/>
            <a:ext cx="1463040" cy="274320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9157546" y="374904"/>
            <a:ext cx="2651760" cy="6108192"/>
          </a:xfrm>
          <a:prstGeom prst="rect">
            <a:avLst/>
          </a:prstGeom>
          <a:noFill/>
          <a:ln w="6350" cap="sq">
            <a:solidFill>
              <a:srgbClr val="FFFFFF"/>
            </a:solidFill>
            <a:miter lim="800000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2458339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2A279-0833-481D-8C56-F67FD0AC6C50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03250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991600" y="762000"/>
            <a:ext cx="2362200" cy="52578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762000"/>
            <a:ext cx="8077200" cy="52578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587DA83-5663-4C9C-B9AA-0B40A3DAFF81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033923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234696" y="237744"/>
            <a:ext cx="11722608" cy="6382512"/>
          </a:xfrm>
          <a:prstGeom prst="rect">
            <a:avLst/>
          </a:prstGeom>
          <a:solidFill>
            <a:schemeClr val="bg2"/>
          </a:solidFill>
          <a:ln w="6350" cap="flat" cmpd="sng" algn="ctr">
            <a:noFill/>
            <a:prstDash val="solid"/>
          </a:ln>
          <a:effectLst>
            <a:softEdge rad="0"/>
          </a:effectLst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642594"/>
            <a:ext cx="10058400" cy="1371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103120"/>
            <a:ext cx="10058400" cy="393192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274320" y="6307672"/>
            <a:ext cx="274320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62D6E202-B606-4609-B914-27C9371A1F6D}" type="datetime1">
              <a:rPr lang="en-US" smtClean="0"/>
              <a:t>12/6/2025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89960" y="6307672"/>
            <a:ext cx="521208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469880" y="6307672"/>
            <a:ext cx="1463040" cy="27432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92317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51" r:id="rId1"/>
    <p:sldLayoutId id="2147483752" r:id="rId2"/>
    <p:sldLayoutId id="2147483753" r:id="rId3"/>
    <p:sldLayoutId id="2147483754" r:id="rId4"/>
    <p:sldLayoutId id="2147483755" r:id="rId5"/>
    <p:sldLayoutId id="2147483756" r:id="rId6"/>
    <p:sldLayoutId id="2147483757" r:id="rId7"/>
    <p:sldLayoutId id="2147483758" r:id="rId8"/>
    <p:sldLayoutId id="2147483759" r:id="rId9"/>
    <p:sldLayoutId id="2147483760" r:id="rId10"/>
    <p:sldLayoutId id="2147483761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lang="en-US" sz="4800" kern="1200" cap="none" spc="0" baseline="0" dirty="0">
          <a:solidFill>
            <a:schemeClr val="tx1">
              <a:lumMod val="85000"/>
              <a:lumOff val="15000"/>
            </a:schemeClr>
          </a:solidFill>
          <a:effectLst/>
          <a:latin typeface="+mj-lt"/>
          <a:ea typeface="+mn-ea"/>
          <a:cs typeface="+mn-cs"/>
        </a:defRPr>
      </a:lvl1pPr>
    </p:titleStyle>
    <p:bodyStyle>
      <a:lvl1pPr marL="182880" indent="-182880" algn="l" defTabSz="914400" rtl="0" eaLnBrk="1" latinLnBrk="0" hangingPunct="1">
        <a:lnSpc>
          <a:spcPct val="100000"/>
        </a:lnSpc>
        <a:spcBef>
          <a:spcPts val="900"/>
        </a:spcBef>
        <a:spcAft>
          <a:spcPts val="0"/>
        </a:spcAft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80160" indent="-18288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6pPr>
      <a:lvl7pPr marL="19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2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5000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tx1">
            <a:lumMod val="85000"/>
            <a:lumOff val="15000"/>
          </a:schemeClr>
        </a:buClr>
        <a:buFont typeface="Garamond" pitchFamily="18" charset="0"/>
        <a:buChar char="◦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AD1469-26BC-DF8F-E588-0531AD29CE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665225" y="508958"/>
            <a:ext cx="9068586" cy="3804249"/>
          </a:xfrm>
        </p:spPr>
        <p:txBody>
          <a:bodyPr/>
          <a:lstStyle/>
          <a:p>
            <a:r>
              <a:rPr lang="en-IN" sz="2800" b="1" dirty="0"/>
              <a:t>House price </a:t>
            </a:r>
            <a:r>
              <a:rPr lang="en-IN" sz="2800" b="1" dirty="0" err="1"/>
              <a:t>predicition</a:t>
            </a:r>
            <a:r>
              <a:rPr lang="en-IN" sz="2800" b="1" dirty="0"/>
              <a:t> using linear regression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EC07D0-898E-E797-7DF7-955775C21D0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662963" y="2838092"/>
            <a:ext cx="9070848" cy="2301172"/>
          </a:xfrm>
        </p:spPr>
        <p:txBody>
          <a:bodyPr>
            <a:normAutofit/>
          </a:bodyPr>
          <a:lstStyle/>
          <a:p>
            <a:r>
              <a:rPr lang="en-IN" sz="1800" dirty="0"/>
              <a:t>MACHINE LEARNING PROJECT</a:t>
            </a:r>
          </a:p>
          <a:p>
            <a:endParaRPr lang="en-IN" sz="1800" dirty="0"/>
          </a:p>
          <a:p>
            <a:endParaRPr lang="en-IN" sz="1800" dirty="0"/>
          </a:p>
          <a:p>
            <a:pPr algn="l"/>
            <a:r>
              <a:rPr lang="en-IN" sz="1800" i="1" dirty="0"/>
              <a:t>NAME:SARVESHWAR S HIRE</a:t>
            </a:r>
            <a:r>
              <a:rPr lang="en-IN" sz="1800" dirty="0"/>
              <a:t>MATH</a:t>
            </a:r>
          </a:p>
          <a:p>
            <a:pPr algn="l"/>
            <a:r>
              <a:rPr lang="en-IN" sz="1800" dirty="0"/>
              <a:t>COURSE:BCA 5</a:t>
            </a:r>
            <a:r>
              <a:rPr lang="en-IN" sz="1800" baseline="30000" dirty="0"/>
              <a:t>TH</a:t>
            </a:r>
            <a:r>
              <a:rPr lang="en-IN" sz="1800" dirty="0"/>
              <a:t> SEM</a:t>
            </a:r>
          </a:p>
          <a:p>
            <a:pPr algn="l"/>
            <a:r>
              <a:rPr lang="en-IN" sz="1800" dirty="0"/>
              <a:t>INSTITUTE:DIGITAL DREAMS OF INSTUTION</a:t>
            </a:r>
          </a:p>
        </p:txBody>
      </p:sp>
    </p:spTree>
    <p:extLst>
      <p:ext uri="{BB962C8B-B14F-4D97-AF65-F5344CB8AC3E}">
        <p14:creationId xmlns:p14="http://schemas.microsoft.com/office/powerpoint/2010/main" val="324873303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F965C8-7157-3113-8F13-7B5D74F648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Problem Statement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DE8D0C-DF9B-F7E2-D9D7-22AE28CC0CE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066800" y="2743200"/>
            <a:ext cx="10058400" cy="3942272"/>
          </a:xfrm>
        </p:spPr>
        <p:txBody>
          <a:bodyPr/>
          <a:lstStyle/>
          <a:p>
            <a:r>
              <a:rPr lang="en-US" sz="2800" dirty="0"/>
              <a:t>House prices depend on area, rooms, location, age</a:t>
            </a:r>
          </a:p>
          <a:p>
            <a:r>
              <a:rPr lang="en-US" sz="2800" dirty="0"/>
              <a:t>Manual estimation is inaccurate</a:t>
            </a:r>
          </a:p>
          <a:p>
            <a:r>
              <a:rPr lang="en-US" sz="2800" dirty="0"/>
              <a:t>Goal: Predict price automatically using ML</a:t>
            </a:r>
          </a:p>
          <a:p>
            <a:r>
              <a:rPr lang="en-US" sz="2800" dirty="0"/>
              <a:t>Linear Regression used for continuous value prediction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5200717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C52E3A5-D2A0-32C2-E156-DA15539D18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Dataset Description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53EE78A-AAE4-4E1B-3DB6-76289701A968}"/>
              </a:ext>
            </a:extLst>
          </p:cNvPr>
          <p:cNvSpPr txBox="1"/>
          <p:nvPr/>
        </p:nvSpPr>
        <p:spPr>
          <a:xfrm>
            <a:off x="577970" y="2424023"/>
            <a:ext cx="8563873" cy="230832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 Features in dataset:</a:t>
            </a:r>
          </a:p>
          <a:p>
            <a:r>
              <a:rPr lang="en-US" sz="2400" dirty="0"/>
              <a:t>  • Area (sq ft)</a:t>
            </a:r>
          </a:p>
          <a:p>
            <a:r>
              <a:rPr lang="en-US" sz="2400" dirty="0"/>
              <a:t>  • Number of bedrooms</a:t>
            </a:r>
          </a:p>
          <a:p>
            <a:r>
              <a:rPr lang="en-US" sz="2400" dirty="0"/>
              <a:t>  • Location</a:t>
            </a:r>
          </a:p>
          <a:p>
            <a:r>
              <a:rPr lang="en-US" sz="2400" dirty="0"/>
              <a:t>  • Age of house</a:t>
            </a:r>
          </a:p>
          <a:p>
            <a:r>
              <a:rPr lang="en-US" sz="2400" dirty="0"/>
              <a:t> Target variable: House Price</a:t>
            </a:r>
          </a:p>
        </p:txBody>
      </p:sp>
    </p:spTree>
    <p:extLst>
      <p:ext uri="{BB962C8B-B14F-4D97-AF65-F5344CB8AC3E}">
        <p14:creationId xmlns:p14="http://schemas.microsoft.com/office/powerpoint/2010/main" val="41340793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538D529-F310-FF0D-A572-989B21CF3CF0}"/>
              </a:ext>
            </a:extLst>
          </p:cNvPr>
          <p:cNvSpPr txBox="1"/>
          <p:nvPr/>
        </p:nvSpPr>
        <p:spPr>
          <a:xfrm>
            <a:off x="-836763" y="889322"/>
            <a:ext cx="938338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dirty="0"/>
              <a:t>Technique &amp; Workflow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A8DB51A-77D3-5769-0EBC-DFDC1EC0C8ED}"/>
              </a:ext>
            </a:extLst>
          </p:cNvPr>
          <p:cNvSpPr txBox="1"/>
          <p:nvPr/>
        </p:nvSpPr>
        <p:spPr>
          <a:xfrm>
            <a:off x="931653" y="2577240"/>
            <a:ext cx="7681821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400" dirty="0"/>
              <a:t>- Algorithm: Linear Regression</a:t>
            </a:r>
          </a:p>
          <a:p>
            <a:r>
              <a:rPr lang="en-US" sz="2400" dirty="0"/>
              <a:t>- Steps:</a:t>
            </a:r>
          </a:p>
          <a:p>
            <a:r>
              <a:rPr lang="en-US" sz="2400" dirty="0"/>
              <a:t>  1. Input data</a:t>
            </a:r>
          </a:p>
          <a:p>
            <a:r>
              <a:rPr lang="en-US" sz="2400" dirty="0"/>
              <a:t>  2. Preprocessing &amp; cleaning</a:t>
            </a:r>
          </a:p>
          <a:p>
            <a:r>
              <a:rPr lang="en-US" sz="2400" dirty="0"/>
              <a:t>  3. Model training</a:t>
            </a:r>
          </a:p>
          <a:p>
            <a:r>
              <a:rPr lang="en-US" sz="2400" dirty="0"/>
              <a:t>  4. Prediction output</a:t>
            </a:r>
          </a:p>
          <a:p>
            <a:r>
              <a:rPr lang="en-US" sz="2400" dirty="0"/>
              <a:t>- Simple linear model fitting best line</a:t>
            </a:r>
          </a:p>
        </p:txBody>
      </p:sp>
    </p:spTree>
    <p:extLst>
      <p:ext uri="{BB962C8B-B14F-4D97-AF65-F5344CB8AC3E}">
        <p14:creationId xmlns:p14="http://schemas.microsoft.com/office/powerpoint/2010/main" val="16957799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D5071B0-B3AD-30F1-6C70-5BD8C5948E8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0466" y="733244"/>
            <a:ext cx="8772055" cy="49170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5364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A01C89-17F8-3376-0F4A-8BFAD81A34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Conclusion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94207FF-A000-7BBA-E0F9-21C1717BAC7B}"/>
              </a:ext>
            </a:extLst>
          </p:cNvPr>
          <p:cNvSpPr txBox="1"/>
          <p:nvPr/>
        </p:nvSpPr>
        <p:spPr>
          <a:xfrm>
            <a:off x="526211" y="2277374"/>
            <a:ext cx="8615632" cy="30469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3200" dirty="0"/>
              <a:t>- Linear Regression predicts house price accurately</a:t>
            </a:r>
          </a:p>
          <a:p>
            <a:r>
              <a:rPr lang="en-US" sz="3200" dirty="0"/>
              <a:t>- Model learns relationship between features &amp; price</a:t>
            </a:r>
          </a:p>
          <a:p>
            <a:r>
              <a:rPr lang="en-US" sz="3200" dirty="0"/>
              <a:t>- Can be improved using Multiple Regression, Random Forest, etc.</a:t>
            </a:r>
          </a:p>
        </p:txBody>
      </p:sp>
    </p:spTree>
    <p:extLst>
      <p:ext uri="{BB962C8B-B14F-4D97-AF65-F5344CB8AC3E}">
        <p14:creationId xmlns:p14="http://schemas.microsoft.com/office/powerpoint/2010/main" val="410428079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avon">
  <a:themeElements>
    <a:clrScheme name="Savon">
      <a:dk1>
        <a:sysClr val="windowText" lastClr="000000"/>
      </a:dk1>
      <a:lt1>
        <a:sysClr val="window" lastClr="FFFFFF"/>
      </a:lt1>
      <a:dk2>
        <a:srgbClr val="1485A4"/>
      </a:dk2>
      <a:lt2>
        <a:srgbClr val="E3DED1"/>
      </a:lt2>
      <a:accent1>
        <a:srgbClr val="1CADE4"/>
      </a:accent1>
      <a:accent2>
        <a:srgbClr val="2683C6"/>
      </a:accent2>
      <a:accent3>
        <a:srgbClr val="27CED7"/>
      </a:accent3>
      <a:accent4>
        <a:srgbClr val="42BA97"/>
      </a:accent4>
      <a:accent5>
        <a:srgbClr val="3E8853"/>
      </a:accent5>
      <a:accent6>
        <a:srgbClr val="62A39F"/>
      </a:accent6>
      <a:hlink>
        <a:srgbClr val="F49100"/>
      </a:hlink>
      <a:folHlink>
        <a:srgbClr val="739D9B"/>
      </a:folHlink>
    </a:clrScheme>
    <a:fontScheme name="Savon">
      <a:maj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Savon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satMod val="105000"/>
                <a:lumMod val="105000"/>
              </a:schemeClr>
            </a:gs>
            <a:gs pos="100000">
              <a:schemeClr val="phClr">
                <a:tint val="65000"/>
                <a:satMod val="100000"/>
                <a:lumMod val="100000"/>
              </a:schemeClr>
            </a:gs>
            <a:gs pos="100000">
              <a:schemeClr val="phClr">
                <a:tint val="70000"/>
                <a:satMod val="100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0000"/>
                <a:lumMod val="100000"/>
              </a:schemeClr>
            </a:gs>
            <a:gs pos="50000">
              <a:schemeClr val="phClr">
                <a:shade val="99000"/>
                <a:satMod val="105000"/>
                <a:lumMod val="100000"/>
              </a:schemeClr>
            </a:gs>
            <a:gs pos="100000">
              <a:schemeClr val="phClr">
                <a:shade val="98000"/>
                <a:satMod val="105000"/>
                <a:lumMod val="100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12700" dir="5400000" algn="ctr" rotWithShape="0">
              <a:srgbClr val="000000">
                <a:alpha val="63000"/>
              </a:srgbClr>
            </a:outerShdw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  <a:scene3d>
            <a:camera prst="orthographicFront">
              <a:rot lat="0" lon="0" rev="0"/>
            </a:camera>
            <a:lightRig rig="flat" dir="tl">
              <a:rot lat="0" lon="0" rev="4200000"/>
            </a:lightRig>
          </a:scene3d>
          <a:sp3d prstMaterial="flat">
            <a:bevelT w="50800" h="63500" prst="rible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2000"/>
                <a:satMod val="160000"/>
              </a:schemeClr>
            </a:gs>
            <a:gs pos="77000">
              <a:schemeClr val="phClr">
                <a:tint val="100000"/>
                <a:shade val="73000"/>
                <a:satMod val="155000"/>
              </a:schemeClr>
            </a:gs>
            <a:gs pos="100000">
              <a:schemeClr val="phClr">
                <a:tint val="100000"/>
                <a:shade val="67000"/>
                <a:satMod val="145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tint val="95000"/>
              </a:schemeClr>
              <a:schemeClr val="phClr">
                <a:shade val="92000"/>
                <a:satMod val="115000"/>
              </a:schemeClr>
            </a:duotone>
          </a:blip>
          <a:tile tx="0" ty="0" sx="60000" sy="6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avon" id="{1306E473-ED32-493B-A2D0-240A757EDD34}" vid="{C20BADFE-D095-436F-9677-9264042809F0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Props1.xml><?xml version="1.0" encoding="utf-8"?>
<ds:datastoreItem xmlns:ds="http://schemas.openxmlformats.org/officeDocument/2006/customXml" ds:itemID="{C5A59D56-2157-4202-9D02-F44E447A241D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2.xml><?xml version="1.0" encoding="utf-8"?>
<ds:datastoreItem xmlns:ds="http://schemas.openxmlformats.org/officeDocument/2006/customXml" ds:itemID="{19DAD249-BF80-48EF-9AFB-36A11BCDC2C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6F4F4D41-822D-40F2-A7AC-E4E6CB36CA7A}">
  <ds:schemaRefs>
    <ds:schemaRef ds:uri="http://schemas.microsoft.com/office/2006/metadata/properties"/>
    <ds:schemaRef ds:uri="http://schemas.microsoft.com/office/infopath/2007/PartnerControls"/>
    <ds:schemaRef ds:uri="http://schemas.microsoft.com/sharepoint/v3"/>
    <ds:schemaRef ds:uri="71af3243-3dd4-4a8d-8c0d-dd76da1f02a5"/>
    <ds:schemaRef ds:uri="230e9df3-be65-4c73-a93b-d1236ebd677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TM03457510[[fn=Savon]]</Template>
  <TotalTime>30</TotalTime>
  <Words>157</Words>
  <Application>Microsoft Office PowerPoint</Application>
  <PresentationFormat>Widescreen</PresentationFormat>
  <Paragraphs>31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Century Gothic</vt:lpstr>
      <vt:lpstr>Garamond</vt:lpstr>
      <vt:lpstr>Savon</vt:lpstr>
      <vt:lpstr>House price predicition using linear regression</vt:lpstr>
      <vt:lpstr>Problem Statement</vt:lpstr>
      <vt:lpstr>Dataset Description</vt:lpstr>
      <vt:lpstr>PowerPoint Presentation</vt:lpstr>
      <vt:lpstr>PowerPoint Presentation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Sarveshwar Santosh Hiremath</dc:creator>
  <cp:lastModifiedBy>Sarveshwar Santosh Hiremath</cp:lastModifiedBy>
  <cp:revision>1</cp:revision>
  <dcterms:created xsi:type="dcterms:W3CDTF">2025-12-05T12:19:49Z</dcterms:created>
  <dcterms:modified xsi:type="dcterms:W3CDTF">2025-12-06T13:28:25Z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